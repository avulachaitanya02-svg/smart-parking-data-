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0309" cy="7924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73430"/>
            <a:ext cx="7560309" cy="38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187940"/>
            <a:ext cx="7560309" cy="50418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177780"/>
            <a:ext cx="7560309" cy="2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750" y="419100"/>
            <a:ext cx="2541270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D4FF"/>
                </a:solidFill>
                <a:latin typeface="Helvetica"/>
              </a:rPr>
              <a:t>Smart Parking System — Data Analysis Report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5970" y="430530"/>
            <a:ext cx="11645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00">
                <a:solidFill>
                  <a:srgbClr val="8B949E"/>
                </a:solidFill>
                <a:latin typeface="Helvetica"/>
              </a:rPr>
              <a:t>Reg. No: 2117250020045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0090" y="1804670"/>
          <a:ext cx="6120130" cy="4914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533400">
                <a:tc>
                  <a:txBody>
                    <a:bodyPr/>
                    <a:lstStyle/>
                    <a:p>
                      <a:pPr>
                        <a:lnSpc>
                          <a:spcPts val="1019"/>
                        </a:lnSpc>
                      </a:pPr>
                    </a:p>
                    <a:p>
                      <a:pPr algn="ctr">
                        <a:lnSpc>
                          <a:spcPts val="2140"/>
                        </a:lnSpc>
                      </a:pPr>
                      <a:r>
                        <a:rPr spc="-100" b="1" sz="2800">
                          <a:solidFill>
                            <a:srgbClr val="00D4FF"/>
                          </a:solidFill>
                          <a:latin typeface="Helvetica"/>
                        </a:rPr>
                        <a:t>SMART PARKING SYSTEM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d4ff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d4ff">
                          <a:alpha val="100000"/>
                        </a:srgbClr>
                      </a:solidFill>
                    </a:lnR>
                    <a:lnT w="12700" cap="flat" cmpd="sng" algn="ctr">
                      <a:solidFill>
                        <a:srgbClr val="00d4ff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43815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algn="ctr">
                        <a:lnSpc>
                          <a:spcPts val="1520"/>
                        </a:lnSpc>
                      </a:pPr>
                      <a:r>
                        <a:rPr spc="-100" b="1" sz="1600">
                          <a:solidFill>
                            <a:srgbClr val="FFFFFF"/>
                          </a:solidFill>
                          <a:latin typeface="Helvetica"/>
                        </a:rPr>
                        <a:t>Data Analysis Report</a:t>
                      </a:r>
                    </a:p>
                    <a:p>
                      <a:pPr algn="ctr">
                        <a:lnSpc>
                          <a:spcPts val="860"/>
                        </a:lnSpc>
                        <a:spcBef>
                          <a:spcPts val="4150"/>
                        </a:spcBef>
                      </a:pPr>
                      <a:r>
                        <a:rPr spc="-100" i="1" sz="900">
                          <a:solidFill>
                            <a:srgbClr val="8B949E"/>
                          </a:solidFill>
                          <a:latin typeface="Helvetica"/>
                        </a:rPr>
                        <a:t>All six analytical visualisations — Line Plot · Scatter Plot · Histogram · Heatmap · Bar Chart · Pie Chart</a:t>
                      </a:r>
                    </a:p>
                    <a:p>
                      <a:pPr algn="ctr">
                        <a:lnSpc>
                          <a:spcPts val="860"/>
                        </a:lnSpc>
                        <a:spcBef>
                          <a:spcPts val="6110"/>
                        </a:spcBef>
                      </a:pPr>
                      <a:r>
                        <a:rPr spc="-100" i="1" sz="900">
                          <a:solidFill>
                            <a:srgbClr val="8B949E"/>
                          </a:solidFill>
                          <a:latin typeface="Helvetica"/>
                        </a:rPr>
                        <a:t>Submitted by</a:t>
                      </a:r>
                    </a:p>
                    <a:p>
                      <a:pPr algn="ctr">
                        <a:lnSpc>
                          <a:spcPts val="1050"/>
                        </a:lnSpc>
                        <a:spcBef>
                          <a:spcPts val="1390"/>
                        </a:spcBef>
                      </a:pPr>
                      <a:r>
                        <a:rPr spc="-100" b="1" sz="1100">
                          <a:solidFill>
                            <a:srgbClr val="E6EDF3"/>
                          </a:solidFill>
                          <a:latin typeface="Helvetica"/>
                        </a:rPr>
                        <a:t>A. Chaitanya</a:t>
                      </a:r>
                    </a:p>
                    <a:p>
                      <a:pPr algn="ctr">
                        <a:lnSpc>
                          <a:spcPts val="1040"/>
                        </a:lnSpc>
                        <a:spcBef>
                          <a:spcPts val="1560"/>
                        </a:spcBef>
                      </a:pPr>
                      <a:r>
                        <a:rPr spc="-100" sz="1100">
                          <a:solidFill>
                            <a:srgbClr val="E6EDF3"/>
                          </a:solidFill>
                          <a:latin typeface="Helvetica"/>
                        </a:rPr>
                        <a:t>Registration No:</a:t>
                      </a:r>
                      <a:r>
                        <a:rPr spc="-100" b="1" sz="1100">
                          <a:solidFill>
                            <a:srgbClr val="E6EDF3"/>
                          </a:solidFill>
                          <a:latin typeface="Helvetica"/>
                        </a:rPr>
                        <a:t> 2117250020045</a:t>
                      </a:r>
                    </a:p>
                    <a:p>
                      <a:pPr algn="ctr">
                        <a:lnSpc>
                          <a:spcPts val="860"/>
                        </a:lnSpc>
                        <a:spcBef>
                          <a:spcPts val="4000"/>
                        </a:spcBef>
                      </a:pPr>
                      <a:r>
                        <a:rPr spc="-100" i="1" sz="900">
                          <a:solidFill>
                            <a:srgbClr val="8B949E"/>
                          </a:solidFill>
                          <a:latin typeface="Helvetica"/>
                        </a:rPr>
                        <a:t>Faculty Guide</a:t>
                      </a:r>
                    </a:p>
                    <a:p>
                      <a:pPr algn="ctr">
                        <a:lnSpc>
                          <a:spcPts val="830"/>
                        </a:lnSpc>
                        <a:spcBef>
                          <a:spcPts val="1400"/>
                        </a:spcBef>
                      </a:pPr>
                      <a:r>
                        <a:rPr spc="-100" b="1" sz="1100">
                          <a:solidFill>
                            <a:srgbClr val="E6EDF3"/>
                          </a:solidFill>
                          <a:latin typeface="Helvetica"/>
                        </a:rPr>
                        <a:t>Dr. Anwar Basha</a:t>
                      </a:r>
                    </a:p>
                    <a:p>
                      <a:pPr algn="ctr">
                        <a:lnSpc>
                          <a:spcPts val="869"/>
                        </a:lnSpc>
                        <a:spcBef>
                          <a:spcPts val="6470"/>
                        </a:spcBef>
                      </a:pPr>
                      <a:r>
                        <a:rPr spc="-100" i="1" sz="900">
                          <a:solidFill>
                            <a:srgbClr val="8B949E"/>
                          </a:solidFill>
                          <a:latin typeface="Helvetica"/>
                        </a:rPr>
                        <a:t>Department of Computer Science &amp; Engineering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d4ff">
                          <a:alpha val="100000"/>
                        </a:srgbClr>
                      </a:solidFill>
                    </a:lnL>
                    <a:lnR w="12700" cap="flat" cmpd="sng" algn="ctr">
                      <a:solidFill>
                        <a:srgbClr val="00d4ff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12700" cap="flat" cmpd="sng" algn="ctr">
                      <a:solidFill>
                        <a:srgbClr val="00d4ff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9750" y="10441940"/>
            <a:ext cx="1756410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A. Chaitanya | Faculty: Dr. Anwar Basha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2880" y="10441940"/>
            <a:ext cx="487679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Page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5806440"/>
            <a:ext cx="6120130" cy="29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6098540"/>
            <a:ext cx="6120130" cy="29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560309" cy="7924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73430"/>
            <a:ext cx="7560309" cy="38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187940"/>
            <a:ext cx="7560309" cy="50418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0177780"/>
            <a:ext cx="7560309" cy="2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750" y="419100"/>
            <a:ext cx="2541270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D4FF"/>
                </a:solidFill>
                <a:latin typeface="Helvetica"/>
              </a:rPr>
              <a:t>Smart Parking System — Data Analysis Report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5970" y="430530"/>
            <a:ext cx="11645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00">
                <a:solidFill>
                  <a:srgbClr val="8B949E"/>
                </a:solidFill>
                <a:latin typeface="Helvetica"/>
              </a:rPr>
              <a:t>Reg. No: 2117250020045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9750" y="1084580"/>
          <a:ext cx="6480809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0809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127000" algn="l">
                        <a:lnSpc>
                          <a:spcPts val="1340"/>
                        </a:lnSpc>
                      </a:pPr>
                      <a:r>
                        <a:rPr spc="-100" b="1" sz="1400">
                          <a:solidFill>
                            <a:srgbClr val="00D4FF"/>
                          </a:solidFill>
                          <a:latin typeface="Helvetica"/>
                        </a:rPr>
                        <a:t>Graph 1 — Line Plot: Parking Occupancy Rate Over Time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3175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5950" y="1604010"/>
            <a:ext cx="621284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A time-series line plot comparing weekday and weekend occupancy rates across all operating hours (6 AM – 10 PM). 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950" y="1781810"/>
            <a:ext cx="434594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data point represents average occupancy % measured across 30 days of sensor logs.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229" y="5278120"/>
            <a:ext cx="83058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FFD700"/>
                </a:solidFill>
                <a:latin typeface="Helvetica"/>
              </a:rPr>
              <a:t>Key Insights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0090" y="5514340"/>
          <a:ext cx="6120130" cy="87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876300"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101600" algn="l">
                        <a:lnSpc>
                          <a:spcPts val="810"/>
                        </a:lnSpc>
                      </a:pPr>
                      <a:r>
                        <a:rPr spc="-100" b="1" sz="850">
                          <a:solidFill>
                            <a:srgbClr val="FF6B35"/>
                          </a:solidFill>
                          <a:latin typeface="Helvetica"/>
                        </a:rPr>
                        <a:t>Peak Hour </a:t>
                      </a:r>
                    </a:p>
                    <a:p>
                      <a:pPr marL="101600" algn="l">
                        <a:lnSpc>
                          <a:spcPts val="810"/>
                        </a:lnSpc>
                        <a:spcBef>
                          <a:spcPts val="1320"/>
                        </a:spcBef>
                      </a:pPr>
                    </a:p>
                    <a:p>
                      <a:pPr marL="101600" algn="l">
                        <a:lnSpc>
                          <a:spcPts val="819"/>
                        </a:lnSpc>
                        <a:spcBef>
                          <a:spcPts val="1310"/>
                        </a:spcBef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830070" y="5607050"/>
            <a:ext cx="464058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Weekday occupancy peaks at ~92% between 10 AM–12 PM, reflecting office commuter demand.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90" y="5899150"/>
            <a:ext cx="473709" cy="81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Weekend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0070" y="5899150"/>
            <a:ext cx="395985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Weekend peak is lower (78%) and sustained longer, indicating leisure-based visits.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690" y="6189980"/>
            <a:ext cx="443229" cy="82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Off-Peak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0070" y="6191250"/>
            <a:ext cx="419354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Both curves dip below 30% before 7 AM and after 9 PM — lowest sensor load windows.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750" y="10441940"/>
            <a:ext cx="1756410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A. Chaitanya | Faculty: Dr. Anwar Basha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2880" y="10441940"/>
            <a:ext cx="487679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Page 2 of 7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50" y="2070100"/>
            <a:ext cx="5943600" cy="297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5806440"/>
            <a:ext cx="6120130" cy="29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6098540"/>
            <a:ext cx="612013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560309" cy="7924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73430"/>
            <a:ext cx="7560309" cy="38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187940"/>
            <a:ext cx="7560309" cy="50418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0177780"/>
            <a:ext cx="7560309" cy="2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750" y="419100"/>
            <a:ext cx="2541270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D4FF"/>
                </a:solidFill>
                <a:latin typeface="Helvetica"/>
              </a:rPr>
              <a:t>Smart Parking System — Data Analysis Report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5970" y="430530"/>
            <a:ext cx="11645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00">
                <a:solidFill>
                  <a:srgbClr val="8B949E"/>
                </a:solidFill>
                <a:latin typeface="Helvetica"/>
              </a:rPr>
              <a:t>Reg. No: 2117250020045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9750" y="1084580"/>
          <a:ext cx="6480809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0809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127000" algn="l">
                        <a:lnSpc>
                          <a:spcPts val="1340"/>
                        </a:lnSpc>
                      </a:pPr>
                      <a:r>
                        <a:rPr spc="-100" b="1" sz="1400">
                          <a:solidFill>
                            <a:srgbClr val="00D4FF"/>
                          </a:solidFill>
                          <a:latin typeface="Helvetica"/>
                        </a:rPr>
                        <a:t>Graph 2 — Scatter Plot: Entry Time vs. Parking Duration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3175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5950" y="1604010"/>
            <a:ext cx="618744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Each point represents a single vehicle session, coloured by duration category. Data collected from RFID entry/exit sensors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950" y="1781810"/>
            <a:ext cx="146812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across 200 sample sessions.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229" y="5278120"/>
            <a:ext cx="83058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FFD700"/>
                </a:solidFill>
                <a:latin typeface="Helvetica"/>
              </a:rPr>
              <a:t>Key Insights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0090" y="5514340"/>
          <a:ext cx="6120130" cy="104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04140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101600" algn="l">
                        <a:lnSpc>
                          <a:spcPts val="819"/>
                        </a:lnSpc>
                      </a:pPr>
                      <a:r>
                        <a:rPr spc="-100" b="1" sz="850">
                          <a:solidFill>
                            <a:srgbClr val="FF6B35"/>
                          </a:solidFill>
                          <a:latin typeface="Helvetica"/>
                        </a:rPr>
                        <a:t>Short Stays </a:t>
                      </a:r>
                    </a:p>
                    <a:p>
                      <a:pPr marL="101600" algn="l">
                        <a:lnSpc>
                          <a:spcPts val="819"/>
                        </a:lnSpc>
                        <a:spcBef>
                          <a:spcPts val="1480"/>
                        </a:spcBef>
                      </a:pPr>
                    </a:p>
                    <a:p>
                      <a:pPr marL="101600" algn="l">
                        <a:lnSpc>
                          <a:spcPts val="810"/>
                        </a:lnSpc>
                        <a:spcBef>
                          <a:spcPts val="1490"/>
                        </a:spcBef>
                      </a:pPr>
                    </a:p>
                    <a:p>
                      <a:pPr marL="1109980" algn="l">
                        <a:lnSpc>
                          <a:spcPts val="810"/>
                        </a:lnSpc>
                      </a:pPr>
                    </a:p>
                    <a:p>
                      <a:pPr marL="101600" algn="l">
                        <a:lnSpc>
                          <a:spcPts val="65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830070" y="5607050"/>
            <a:ext cx="384302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Vehicles entering after 6 PM tend to stay &lt; 1 hour — quick shopping/dining trips.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90" y="5897880"/>
            <a:ext cx="581660" cy="10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Long Stays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0070" y="5899150"/>
            <a:ext cx="40005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Morning arrivals (7–9 AM) show longer durations (3–6 hrs), typical of office workers.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690" y="6191250"/>
            <a:ext cx="40766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Mid-day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0070" y="6273800"/>
            <a:ext cx="38392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Dense cluster at 11 AM–2 PM with 1–3 hr durations aligns with lunch-hour visits.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690" y="6355080"/>
            <a:ext cx="372109" cy="82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750" y="10441940"/>
            <a:ext cx="1756410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A. Chaitanya | Faculty: Dr. Anwar Basha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2880" y="10441940"/>
            <a:ext cx="487679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Page 3 of 7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50" y="2070100"/>
            <a:ext cx="5943600" cy="2978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5806440"/>
            <a:ext cx="612013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6263640"/>
            <a:ext cx="612013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560309" cy="7924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73430"/>
            <a:ext cx="7560309" cy="38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187940"/>
            <a:ext cx="7560309" cy="50418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0177780"/>
            <a:ext cx="7560309" cy="2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750" y="419100"/>
            <a:ext cx="2541270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D4FF"/>
                </a:solidFill>
                <a:latin typeface="Helvetica"/>
              </a:rPr>
              <a:t>Smart Parking System — Data Analysis Report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5970" y="430530"/>
            <a:ext cx="11645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00">
                <a:solidFill>
                  <a:srgbClr val="8B949E"/>
                </a:solidFill>
                <a:latin typeface="Helvetica"/>
              </a:rPr>
              <a:t>Reg. No: 2117250020045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9750" y="1084580"/>
          <a:ext cx="6480809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0809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127000" algn="l">
                        <a:lnSpc>
                          <a:spcPts val="1340"/>
                        </a:lnSpc>
                      </a:pPr>
                      <a:r>
                        <a:rPr spc="-100" b="1" sz="1400">
                          <a:solidFill>
                            <a:srgbClr val="00D4FF"/>
                          </a:solidFill>
                          <a:latin typeface="Helvetica"/>
                        </a:rPr>
                        <a:t>Graph 3 — Histogram: Distribution of Parking Duration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3175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5950" y="1604010"/>
            <a:ext cx="613029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Frequency histogram of parking durations (in hours) across all recorded sessions. The bimodal shape reveals two distinct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950" y="1781810"/>
            <a:ext cx="1703070" cy="863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visitor behaviours in the smart lot.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229" y="5278120"/>
            <a:ext cx="83058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FFD700"/>
                </a:solidFill>
                <a:latin typeface="Helvetica"/>
              </a:rPr>
              <a:t>Key Insights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0090" y="5514340"/>
          <a:ext cx="6120130" cy="120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206500"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101600" algn="l">
                        <a:lnSpc>
                          <a:spcPts val="810"/>
                        </a:lnSpc>
                      </a:pPr>
                      <a:r>
                        <a:rPr spc="-100" b="1" sz="850">
                          <a:solidFill>
                            <a:srgbClr val="FF6B35"/>
                          </a:solidFill>
                          <a:latin typeface="Helvetica"/>
                        </a:rPr>
                        <a:t>Mode </a:t>
                      </a:r>
                    </a:p>
                    <a:p>
                      <a:pPr marL="101600" algn="l">
                        <a:lnSpc>
                          <a:spcPts val="640"/>
                        </a:lnSpc>
                        <a:spcBef>
                          <a:spcPts val="1490"/>
                        </a:spcBef>
                      </a:pPr>
                    </a:p>
                    <a:p>
                      <a:pPr marL="1109980" algn="l">
                        <a:lnSpc>
                          <a:spcPts val="810"/>
                        </a:lnSpc>
                        <a:spcBef>
                          <a:spcPts val="10"/>
                        </a:spcBef>
                      </a:pPr>
                    </a:p>
                    <a:p>
                      <a:pPr marL="101600" algn="l">
                        <a:lnSpc>
                          <a:spcPts val="640"/>
                        </a:lnSpc>
                      </a:pPr>
                    </a:p>
                    <a:p>
                      <a:pPr marL="101600" algn="l">
                        <a:lnSpc>
                          <a:spcPts val="819"/>
                        </a:lnSpc>
                        <a:spcBef>
                          <a:spcPts val="1650"/>
                        </a:spcBef>
                      </a:pPr>
                    </a:p>
                    <a:p>
                      <a:pPr marL="1109980" algn="l">
                        <a:lnSpc>
                          <a:spcPts val="810"/>
                        </a:lnSpc>
                      </a:pPr>
                    </a:p>
                    <a:p>
                      <a:pPr marL="101600" algn="l">
                        <a:lnSpc>
                          <a:spcPts val="640"/>
                        </a:lnSpc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830070" y="5607050"/>
            <a:ext cx="360552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Highest frequency bin is 0.5–1.0 hrs, indicating most visitors are short-term.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90" y="5899150"/>
            <a:ext cx="425450" cy="81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Mean 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0070" y="5981700"/>
            <a:ext cx="37401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Right-skewed distribution; mean &gt; median due to a minority of very long stays.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690" y="6064250"/>
            <a:ext cx="372109" cy="81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690" y="6355080"/>
            <a:ext cx="552450" cy="10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Secondary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30070" y="6438900"/>
            <a:ext cx="369570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A secondary bump near 3 hrs corresponds to structured lunch/work sessions.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90" y="6521450"/>
            <a:ext cx="251459" cy="81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Peak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750" y="10441940"/>
            <a:ext cx="1756410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A. Chaitanya | Faculty: Dr. Anwar Basha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2880" y="10441940"/>
            <a:ext cx="487679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Page 4 of 7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50" y="2070100"/>
            <a:ext cx="5943600" cy="2978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5806440"/>
            <a:ext cx="6120130" cy="29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6098540"/>
            <a:ext cx="6120130" cy="29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560309" cy="7924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73430"/>
            <a:ext cx="7560309" cy="38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187940"/>
            <a:ext cx="7560309" cy="50418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0177780"/>
            <a:ext cx="7560309" cy="2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750" y="419100"/>
            <a:ext cx="2541270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D4FF"/>
                </a:solidFill>
                <a:latin typeface="Helvetica"/>
              </a:rPr>
              <a:t>Smart Parking System — Data Analysis Report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5970" y="430530"/>
            <a:ext cx="11645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00">
                <a:solidFill>
                  <a:srgbClr val="8B949E"/>
                </a:solidFill>
                <a:latin typeface="Helvetica"/>
              </a:rPr>
              <a:t>Reg. No: 2117250020045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9750" y="1084580"/>
          <a:ext cx="6480809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0809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127000" algn="l">
                        <a:lnSpc>
                          <a:spcPts val="1340"/>
                        </a:lnSpc>
                      </a:pPr>
                      <a:r>
                        <a:rPr spc="-100" b="1" sz="1400">
                          <a:solidFill>
                            <a:srgbClr val="00D4FF"/>
                          </a:solidFill>
                          <a:latin typeface="Helvetica"/>
                        </a:rPr>
                        <a:t>Graph 4 — Heatmap: Hourly Occupancy by Parking Zone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3175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5950" y="1604010"/>
            <a:ext cx="620014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2-D occupancy heatmap across 5 parking zones (rows) and 17 hourly time slots (columns). Values show the percentage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950" y="1781810"/>
            <a:ext cx="256032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slots occupied; colour intensity encodes load level.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229" y="5278120"/>
            <a:ext cx="83058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FFD700"/>
                </a:solidFill>
                <a:latin typeface="Helvetica"/>
              </a:rPr>
              <a:t>Key Insights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0090" y="5514340"/>
          <a:ext cx="6120130" cy="87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87630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101600" algn="l">
                        <a:lnSpc>
                          <a:spcPts val="810"/>
                        </a:lnSpc>
                      </a:pPr>
                      <a:r>
                        <a:rPr spc="-100" b="1" sz="850">
                          <a:solidFill>
                            <a:srgbClr val="FF6B35"/>
                          </a:solidFill>
                          <a:latin typeface="Helvetica"/>
                        </a:rPr>
                        <a:t>Hotspot </a:t>
                      </a:r>
                    </a:p>
                    <a:p>
                      <a:pPr marL="101600" algn="l">
                        <a:lnSpc>
                          <a:spcPts val="810"/>
                        </a:lnSpc>
                        <a:spcBef>
                          <a:spcPts val="1490"/>
                        </a:spcBef>
                      </a:pPr>
                    </a:p>
                    <a:p>
                      <a:pPr marL="101600" algn="l">
                        <a:lnSpc>
                          <a:spcPts val="810"/>
                        </a:lnSpc>
                        <a:spcBef>
                          <a:spcPts val="1320"/>
                        </a:spcBef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830070" y="5607050"/>
            <a:ext cx="380365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Zone E (Basement) and Zone B (Level 1) show consistently highest occupancy.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90" y="5899150"/>
            <a:ext cx="72516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Morning Rush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0070" y="5899150"/>
            <a:ext cx="35394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8–10 AM block shows red-spectrum cells across all zones simultaneously.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690" y="6191250"/>
            <a:ext cx="533400" cy="81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Roof Zone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0070" y="6191250"/>
            <a:ext cx="361187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Zone D (Roof) remains below 70% even at peak, offering overflow capacity.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750" y="10441940"/>
            <a:ext cx="1756410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A. Chaitanya | Faculty: Dr. Anwar Basha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2880" y="10441940"/>
            <a:ext cx="487679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Page 5 of 7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50" y="2070100"/>
            <a:ext cx="5943600" cy="2978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5806440"/>
            <a:ext cx="6120130" cy="29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6098540"/>
            <a:ext cx="6120130" cy="29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560309" cy="7924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73430"/>
            <a:ext cx="7560309" cy="38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187940"/>
            <a:ext cx="7560309" cy="50418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0177780"/>
            <a:ext cx="7560309" cy="2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750" y="419100"/>
            <a:ext cx="2541270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D4FF"/>
                </a:solidFill>
                <a:latin typeface="Helvetica"/>
              </a:rPr>
              <a:t>Smart Parking System — Data Analysis Report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5970" y="430530"/>
            <a:ext cx="11645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00">
                <a:solidFill>
                  <a:srgbClr val="8B949E"/>
                </a:solidFill>
                <a:latin typeface="Helvetica"/>
              </a:rPr>
              <a:t>Reg. No: 2117250020045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9750" y="1084580"/>
          <a:ext cx="6480809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0809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127000" algn="l">
                        <a:lnSpc>
                          <a:spcPts val="1340"/>
                        </a:lnSpc>
                      </a:pPr>
                      <a:r>
                        <a:rPr spc="-100" b="1" sz="1400">
                          <a:solidFill>
                            <a:srgbClr val="00D4FF"/>
                          </a:solidFill>
                          <a:latin typeface="Helvetica"/>
                        </a:rPr>
                        <a:t>Graph 5 — Bar Chart: Vehicle Count by Category &amp; Peak Hours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3175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5950" y="1602740"/>
            <a:ext cx="6295390" cy="109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Grouped bar chart comparing the number of vehicles per category during the two daily peak windows — morning (9 AM) 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950" y="1781810"/>
            <a:ext cx="210947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evening (6 PM) — across 7 vehicle types.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229" y="5278120"/>
            <a:ext cx="83058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FFD700"/>
                </a:solidFill>
                <a:latin typeface="Helvetica"/>
              </a:rPr>
              <a:t>Key Insights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0090" y="5514340"/>
          <a:ext cx="6120130" cy="87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876300">
                <a:tc>
                  <a:txBody>
                    <a:bodyPr/>
                    <a:lstStyle/>
                    <a:p>
                      <a:pPr>
                        <a:lnSpc>
                          <a:spcPts val="509"/>
                        </a:lnSpc>
                      </a:pPr>
                    </a:p>
                    <a:p>
                      <a:pPr marL="101600" algn="l">
                        <a:lnSpc>
                          <a:spcPts val="810"/>
                        </a:lnSpc>
                      </a:pPr>
                      <a:r>
                        <a:rPr spc="-100" b="1" sz="850">
                          <a:solidFill>
                            <a:srgbClr val="FF6B35"/>
                          </a:solidFill>
                          <a:latin typeface="Helvetica"/>
                        </a:rPr>
                        <a:t>Two-Wheelers </a:t>
                      </a:r>
                    </a:p>
                    <a:p>
                      <a:pPr marL="101600" algn="l">
                        <a:lnSpc>
                          <a:spcPts val="810"/>
                        </a:lnSpc>
                        <a:spcBef>
                          <a:spcPts val="1320"/>
                        </a:spcBef>
                      </a:pPr>
                    </a:p>
                    <a:p>
                      <a:pPr marL="101600" algn="l">
                        <a:lnSpc>
                          <a:spcPts val="810"/>
                        </a:lnSpc>
                        <a:spcBef>
                          <a:spcPts val="1320"/>
                        </a:spcBef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830070" y="5607050"/>
            <a:ext cx="365379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Dominate both peaks (230 AM / 198 PM), requiring dedicated bay allocation.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90" y="5899150"/>
            <a:ext cx="204469" cy="81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EVs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0070" y="5899150"/>
            <a:ext cx="416305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EV count is higher in evening peak (75 vs 62), suggesting workplace charging patterns.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690" y="6191250"/>
            <a:ext cx="612140" cy="81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Buses/Vans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0070" y="6191250"/>
            <a:ext cx="339344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Lowest count; however, each unit occupies 3–4× the space of a sedan.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750" y="10441940"/>
            <a:ext cx="1756410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A. Chaitanya | Faculty: Dr. Anwar Basha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2880" y="10441940"/>
            <a:ext cx="487679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Page 6 of 7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50" y="2070100"/>
            <a:ext cx="5943600" cy="2978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309" cy="10692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5971540"/>
            <a:ext cx="6120130" cy="29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6263640"/>
            <a:ext cx="6120130" cy="292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560309" cy="79248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73430"/>
            <a:ext cx="7560309" cy="38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187940"/>
            <a:ext cx="7560309" cy="50418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0177780"/>
            <a:ext cx="7560309" cy="2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750" y="419100"/>
            <a:ext cx="2541270" cy="110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900">
                <a:solidFill>
                  <a:srgbClr val="00D4FF"/>
                </a:solidFill>
                <a:latin typeface="Helvetica"/>
              </a:rPr>
              <a:t>Smart Parking System — Data Analysis Report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5970" y="430530"/>
            <a:ext cx="116458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00">
                <a:solidFill>
                  <a:srgbClr val="8B949E"/>
                </a:solidFill>
                <a:latin typeface="Helvetica"/>
              </a:rPr>
              <a:t>Reg. No: 2117250020045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9750" y="1084580"/>
          <a:ext cx="6480809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0809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127000" algn="l">
                        <a:lnSpc>
                          <a:spcPts val="1340"/>
                        </a:lnSpc>
                      </a:pPr>
                      <a:r>
                        <a:rPr spc="-100" b="1" sz="1400">
                          <a:solidFill>
                            <a:srgbClr val="00D4FF"/>
                          </a:solidFill>
                          <a:latin typeface="Helvetica"/>
                        </a:rPr>
                        <a:t>Graph 6 — Pie Chart: Parking Space Utilisation Breakdown</a:t>
                      </a: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3175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5950" y="1604010"/>
            <a:ext cx="607949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Real-time snapshot of how 500 total parking spots are categorised at peak occupancy. The chart breaks down available,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950" y="1781810"/>
            <a:ext cx="3379470" cy="107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E6EDF3"/>
                </a:solidFill>
                <a:latin typeface="Helvetica"/>
              </a:rPr>
              <a:t>occupied (regular, reserved, EV, handicap) and maintenance slots.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229" y="5278120"/>
            <a:ext cx="83058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FFD700"/>
                </a:solidFill>
                <a:latin typeface="Helvetica"/>
              </a:rPr>
              <a:t>Key Insights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20090" y="5514340"/>
          <a:ext cx="6120130" cy="104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20130"/>
              </a:tblGrid>
              <a:tr h="104140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101600" algn="l">
                        <a:lnSpc>
                          <a:spcPts val="819"/>
                        </a:lnSpc>
                      </a:pPr>
                      <a:r>
                        <a:rPr spc="-100" b="1" sz="850">
                          <a:solidFill>
                            <a:srgbClr val="FF6B35"/>
                          </a:solidFill>
                          <a:latin typeface="Helvetica"/>
                        </a:rPr>
                        <a:t>Occupancy</a:t>
                      </a:r>
                    </a:p>
                    <a:p>
                      <a:pPr marL="1109980" algn="l">
                        <a:lnSpc>
                          <a:spcPts val="810"/>
                        </a:lnSpc>
                      </a:pPr>
                      <a:r>
                        <a:rPr spc="-100" sz="850">
                          <a:solidFill>
                            <a:srgbClr val="E6EDF3"/>
                          </a:solidFill>
                          <a:latin typeface="Helvetica"/>
                        </a:rPr>
                        <a:t>78% of total capacity is actively occupied at the captured peak moment.</a:t>
                      </a:r>
                    </a:p>
                    <a:p>
                      <a:pPr marL="101600" algn="l">
                        <a:lnSpc>
                          <a:spcPts val="640"/>
                        </a:lnSpc>
                      </a:pPr>
                      <a:r>
                        <a:rPr spc="-100" b="1" sz="850">
                          <a:solidFill>
                            <a:srgbClr val="FF6B35"/>
                          </a:solidFill>
                          <a:latin typeface="Helvetica"/>
                        </a:rPr>
                        <a:t>Rate</a:t>
                      </a:r>
                    </a:p>
                    <a:p>
                      <a:pPr marL="101600" algn="l">
                        <a:lnSpc>
                          <a:spcPts val="819"/>
                        </a:lnSpc>
                        <a:spcBef>
                          <a:spcPts val="1480"/>
                        </a:spcBef>
                      </a:pPr>
                      <a:r>
                        <a:rPr spc="-100" b="1" sz="850">
                          <a:solidFill>
                            <a:srgbClr val="FF6B35"/>
                          </a:solidFill>
                          <a:latin typeface="Helvetica"/>
                        </a:rPr>
                        <a:t>EV Share </a:t>
                      </a:r>
                    </a:p>
                    <a:p>
                      <a:pPr marL="101600" algn="l">
                        <a:lnSpc>
                          <a:spcPts val="810"/>
                        </a:lnSpc>
                        <a:spcBef>
                          <a:spcPts val="1320"/>
                        </a:spcBef>
                      </a:p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>
                          <a:alpha val="0"/>
                        </a:srgbClr>
                      </a:solidFill>
                    </a:lnL>
                    <a:lnR w="6350" cap="flat" cmpd="sng" algn="ctr">
                      <a:solidFill>
                        <a:srgbClr val="2f363d">
                          <a:alpha val="100000"/>
                        </a:srgbClr>
                      </a:solidFill>
                    </a:lnR>
                    <a:lnT w="6350" cap="flat" cmpd="sng" algn="ctr">
                      <a:solidFill>
                        <a:srgbClr val="2f363d">
                          <a:alpha val="100000"/>
                        </a:srgbClr>
                      </a:solidFill>
                    </a:lnT>
                    <a:lnB w="6350" cap="flat" cmpd="sng" algn="ctr">
                      <a:solidFill>
                        <a:srgbClr val="2f363d">
                          <a:alpha val="100000"/>
                        </a:srgbClr>
                      </a:solidFill>
                    </a:lnB>
                    <a:solidFill>
                      <a:srgbClr val="161a21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830070" y="6064250"/>
            <a:ext cx="3521709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10% EV-charging slots reflect growing electric vehicle adoption in the city.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90" y="6356350"/>
            <a:ext cx="473709" cy="81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850">
                <a:solidFill>
                  <a:srgbClr val="FF6B35"/>
                </a:solidFill>
                <a:latin typeface="Helvetica"/>
              </a:rPr>
              <a:t>Available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0070" y="6356350"/>
            <a:ext cx="386207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50">
                <a:solidFill>
                  <a:srgbClr val="E6EDF3"/>
                </a:solidFill>
                <a:latin typeface="Helvetica"/>
              </a:rPr>
              <a:t>22% available spots (</a:t>
            </a:r>
            <a:r>
              <a:rPr spc="-100" sz="850">
                <a:solidFill>
                  <a:srgbClr val="E6EDF3"/>
                </a:solidFill>
                <a:latin typeface="Symbol"/>
              </a:rPr>
              <a:t>≈</a:t>
            </a:r>
            <a:r>
              <a:rPr spc="-100" sz="850">
                <a:solidFill>
                  <a:srgbClr val="E6EDF3"/>
                </a:solidFill>
                <a:latin typeface="Helvetica"/>
              </a:rPr>
              <a:t>110 spaces) remain, guiding the dynamic signage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750" y="10441940"/>
            <a:ext cx="1756410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A. Chaitanya | Faculty: Dr. Anwar Basha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2880" y="10441940"/>
            <a:ext cx="487679" cy="91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750">
                <a:solidFill>
                  <a:srgbClr val="8B949E"/>
                </a:solidFill>
                <a:latin typeface="Helvetica"/>
              </a:rPr>
              <a:t>Page 7 of 7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50" y="2070100"/>
            <a:ext cx="5943600" cy="297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